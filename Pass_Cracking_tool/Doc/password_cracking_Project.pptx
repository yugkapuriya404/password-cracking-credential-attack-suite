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gkapuriya01@outlook.com" userId="b0be7820198d3315" providerId="LiveId" clId="{56FF5480-F839-4119-9E10-372DE4C21047}"/>
    <pc:docChg chg="undo custSel modSld">
      <pc:chgData name="yugkapuriya01@outlook.com" userId="b0be7820198d3315" providerId="LiveId" clId="{56FF5480-F839-4119-9E10-372DE4C21047}" dt="2026-03-12T06:49:34.340" v="1" actId="20577"/>
      <pc:docMkLst>
        <pc:docMk/>
      </pc:docMkLst>
      <pc:sldChg chg="modSp mod">
        <pc:chgData name="yugkapuriya01@outlook.com" userId="b0be7820198d3315" providerId="LiveId" clId="{56FF5480-F839-4119-9E10-372DE4C21047}" dt="2026-03-12T06:49:34.340" v="1" actId="20577"/>
        <pc:sldMkLst>
          <pc:docMk/>
          <pc:sldMk cId="2061742151" sldId="256"/>
        </pc:sldMkLst>
        <pc:spChg chg="mod">
          <ac:chgData name="yugkapuriya01@outlook.com" userId="b0be7820198d3315" providerId="LiveId" clId="{56FF5480-F839-4119-9E10-372DE4C21047}" dt="2026-03-12T06:49:34.340" v="1" actId="20577"/>
          <ac:spMkLst>
            <pc:docMk/>
            <pc:sldMk cId="2061742151" sldId="256"/>
            <ac:spMk id="3" creationId="{30A433C6-DEE4-E9B0-53A1-9D2625EC75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21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02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7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54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54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8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9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6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51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8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500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098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34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774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413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62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D741C-E38A-40DE-82E5-C6A65E2ED8F5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53C4E-7C7F-400C-B5DB-DE272C144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313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yug-kapuriya-4b2648295" TargetMode="External"/><Relationship Id="rId2" Type="http://schemas.openxmlformats.org/officeDocument/2006/relationships/hyperlink" Target="mailto:yugkapuriya404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D1A3-DDE0-F72E-429C-E173289E2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Name :- Yug </a:t>
            </a:r>
            <a:r>
              <a:rPr lang="en-IN" sz="3200" b="1" dirty="0" err="1"/>
              <a:t>Kapuriya</a:t>
            </a:r>
            <a:r>
              <a:rPr lang="en-IN" sz="3200" b="1" dirty="0"/>
              <a:t> </a:t>
            </a:r>
            <a:br>
              <a:rPr lang="en-IN" sz="3200" b="1" dirty="0"/>
            </a:br>
            <a:r>
              <a:rPr lang="en-IN" sz="3200" b="1" dirty="0"/>
              <a:t>UNID :- UMID13012677975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433C6-DEE4-E9B0-53A1-9D2625EC7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Gmail      :- </a:t>
            </a:r>
            <a:r>
              <a:rPr lang="en-US" dirty="0">
                <a:hlinkClick r:id="rId2"/>
              </a:rPr>
              <a:t>yugkapuriya404@gmail.com</a:t>
            </a:r>
            <a:endParaRPr lang="en-US" dirty="0"/>
          </a:p>
          <a:p>
            <a:pPr algn="l"/>
            <a:r>
              <a:rPr lang="en-US" dirty="0"/>
              <a:t>LinkedIn :- </a:t>
            </a:r>
            <a:r>
              <a:rPr lang="en-US" dirty="0">
                <a:hlinkClick r:id="rId3"/>
              </a:rPr>
              <a:t>Yug </a:t>
            </a:r>
            <a:r>
              <a:rPr lang="en-US" dirty="0" err="1">
                <a:hlinkClick r:id="rId3"/>
              </a:rPr>
              <a:t>Kapuriya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74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00BB-2EAA-ED42-B6D3-4DCD44F912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Password Cracking &amp; Credential Attack Suite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7E230-4AF3-ECD4-B056-577A18F0C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1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1F17-DE73-C0C9-7C16-A5EE52C95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Modules Included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C4DBC-1878-8C5D-72A7-EB90B6620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Dictionary Generator</a:t>
            </a:r>
          </a:p>
          <a:p>
            <a:r>
              <a:rPr lang="en-IN" dirty="0"/>
              <a:t>Hash Extractor</a:t>
            </a:r>
          </a:p>
          <a:p>
            <a:r>
              <a:rPr lang="en-IN" dirty="0"/>
              <a:t>Brute Force Simulator</a:t>
            </a:r>
          </a:p>
          <a:p>
            <a:r>
              <a:rPr lang="en-IN" dirty="0"/>
              <a:t>Password Analyzer</a:t>
            </a:r>
          </a:p>
          <a:p>
            <a:r>
              <a:rPr lang="en-IN" dirty="0"/>
              <a:t>Report Generator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076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935B-C8F3-C49E-2445-29C8DB58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B6AE-9291-2DCD-011E-5A759FCD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Understand how passwords are stored and hashed</a:t>
            </a:r>
          </a:p>
          <a:p>
            <a:pPr lvl="0"/>
            <a:r>
              <a:rPr lang="en-IN" dirty="0"/>
              <a:t>Simulate dictionary and brute-force attacks in a safe environment</a:t>
            </a:r>
          </a:p>
          <a:p>
            <a:pPr lvl="0"/>
            <a:r>
              <a:rPr lang="en-IN" dirty="0"/>
              <a:t>Analyse password strength using entropy and complexity rules</a:t>
            </a:r>
          </a:p>
          <a:p>
            <a:pPr lvl="0"/>
            <a:r>
              <a:rPr lang="en-IN" dirty="0"/>
              <a:t>Generate audit reports with security recommendations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94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E966-482B-D46C-85D6-1D70DFEC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1 :- Dictionary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23F53-665B-F82A-5A4E-75EBB75B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Generates a custom wordlist of password candidates based on common names, years, symbols, and leet-speak transformations.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9D7EFA4-3EBA-EFD1-B3D0-4413E6BCC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23414"/>
              </p:ext>
            </p:extLst>
          </p:nvPr>
        </p:nvGraphicFramePr>
        <p:xfrm>
          <a:off x="1209367" y="3293805"/>
          <a:ext cx="9281651" cy="27628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4888">
                  <a:extLst>
                    <a:ext uri="{9D8B030D-6E8A-4147-A177-3AD203B41FA5}">
                      <a16:colId xmlns:a16="http://schemas.microsoft.com/office/drawing/2014/main" val="2029245840"/>
                    </a:ext>
                  </a:extLst>
                </a:gridCol>
                <a:gridCol w="6306763">
                  <a:extLst>
                    <a:ext uri="{9D8B030D-6E8A-4147-A177-3AD203B41FA5}">
                      <a16:colId xmlns:a16="http://schemas.microsoft.com/office/drawing/2014/main" val="2488444737"/>
                    </a:ext>
                  </a:extLst>
                </a:gridCol>
              </a:tblGrid>
              <a:tr h="4604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Item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Detail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54849305"/>
                  </a:ext>
                </a:extLst>
              </a:tr>
              <a:tr h="460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File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dictionary_generator.py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24650190"/>
                  </a:ext>
                </a:extLst>
              </a:tr>
              <a:tr h="460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 err="1">
                          <a:effectLst/>
                        </a:rPr>
                        <a:t>generate_dictionary</a:t>
                      </a:r>
                      <a:r>
                        <a:rPr lang="en-IN" sz="1600" kern="100" dirty="0">
                          <a:effectLst/>
                        </a:rPr>
                        <a:t>()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51462802"/>
                  </a:ext>
                </a:extLst>
              </a:tr>
              <a:tr h="460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Input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names, years, symbols lists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67778766"/>
                  </a:ext>
                </a:extLst>
              </a:tr>
              <a:tr h="460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Output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Set of ~42 password candidates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72397121"/>
                  </a:ext>
                </a:extLst>
              </a:tr>
              <a:tr h="460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Techniques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Leet-speak, capitalization, year append, symbol append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13575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91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C324-C7D4-72B1-FE52-87B61884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2 — Hash Extractor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8DB8E-EE2B-4E53-AC51-91C99D0A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Detects the running OS and extracts password hashes from the actual system — Linux /etc/shadow or Windows user accounts.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8858C8-2640-F51F-EE24-CF0745857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277973"/>
              </p:ext>
            </p:extLst>
          </p:nvPr>
        </p:nvGraphicFramePr>
        <p:xfrm>
          <a:off x="1091381" y="3293806"/>
          <a:ext cx="10078063" cy="2713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0148">
                  <a:extLst>
                    <a:ext uri="{9D8B030D-6E8A-4147-A177-3AD203B41FA5}">
                      <a16:colId xmlns:a16="http://schemas.microsoft.com/office/drawing/2014/main" val="1833214012"/>
                    </a:ext>
                  </a:extLst>
                </a:gridCol>
                <a:gridCol w="6847915">
                  <a:extLst>
                    <a:ext uri="{9D8B030D-6E8A-4147-A177-3AD203B41FA5}">
                      <a16:colId xmlns:a16="http://schemas.microsoft.com/office/drawing/2014/main" val="545893845"/>
                    </a:ext>
                  </a:extLst>
                </a:gridCol>
              </a:tblGrid>
              <a:tr h="47328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Item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Detail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13369540"/>
                  </a:ext>
                </a:extLst>
              </a:tr>
              <a:tr h="473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File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hash_extractor.py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90607812"/>
                  </a:ext>
                </a:extLst>
              </a:tr>
              <a:tr h="473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Linux Source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/etc/shadow file (requires root)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8105326"/>
                  </a:ext>
                </a:extLst>
              </a:tr>
              <a:tr h="473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Windows Source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wmic useraccount (shows SID and status)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33876845"/>
                  </a:ext>
                </a:extLst>
              </a:tr>
              <a:tr h="8205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Algorithms ID'd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MD5 ($1$), SHA-256 ($5$), SHA-512 ($6$), NTLM (32 hex chars)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98473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41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19D2-69CE-BD51-6F58-8EC26C96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3 — Brute Force Simulator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FFF4-5AF4-F6A5-B033-27BDF6F9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Tries every word in the wordlist against the target password using MD5 hashing. Reports attempts, time taken, and result.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1046E2-E8AE-2F3D-1790-C4767C78C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46856"/>
              </p:ext>
            </p:extLst>
          </p:nvPr>
        </p:nvGraphicFramePr>
        <p:xfrm>
          <a:off x="1189703" y="3264309"/>
          <a:ext cx="9468465" cy="2507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4764">
                  <a:extLst>
                    <a:ext uri="{9D8B030D-6E8A-4147-A177-3AD203B41FA5}">
                      <a16:colId xmlns:a16="http://schemas.microsoft.com/office/drawing/2014/main" val="2353705626"/>
                    </a:ext>
                  </a:extLst>
                </a:gridCol>
                <a:gridCol w="6433701">
                  <a:extLst>
                    <a:ext uri="{9D8B030D-6E8A-4147-A177-3AD203B41FA5}">
                      <a16:colId xmlns:a16="http://schemas.microsoft.com/office/drawing/2014/main" val="1626207436"/>
                    </a:ext>
                  </a:extLst>
                </a:gridCol>
              </a:tblGrid>
              <a:tr h="4178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Item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Detail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482555486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File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brute_force.py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82392894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brute_force(target)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71069401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Charset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a-z + 0-9 (lowercase + digits)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684514735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Max Length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Up to 5 characters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2250609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Hash Method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MD5 (</a:t>
                      </a:r>
                      <a:r>
                        <a:rPr lang="en-IN" sz="1600" kern="100" dirty="0" err="1">
                          <a:effectLst/>
                        </a:rPr>
                        <a:t>hashlib</a:t>
                      </a:r>
                      <a:r>
                        <a:rPr lang="en-IN" sz="1600" kern="100" dirty="0">
                          <a:effectLst/>
                        </a:rPr>
                        <a:t>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19516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72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AA3B-2CB3-F030-F16C-CDBA372C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4 — Password Analyzer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6D2B-7D26-8B5D-F559-949E43EF1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825625"/>
            <a:ext cx="10515600" cy="4351338"/>
          </a:xfrm>
        </p:spPr>
        <p:txBody>
          <a:bodyPr/>
          <a:lstStyle/>
          <a:p>
            <a:r>
              <a:rPr lang="en-IN" dirty="0"/>
              <a:t>Evaluates a password against 5 criteria and calculates Shannon entropy to measure unpredictability.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4C91A8-3686-90AC-EB1B-99009E855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610520"/>
              </p:ext>
            </p:extLst>
          </p:nvPr>
        </p:nvGraphicFramePr>
        <p:xfrm>
          <a:off x="1140541" y="2930013"/>
          <a:ext cx="9547123" cy="32469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976">
                  <a:extLst>
                    <a:ext uri="{9D8B030D-6E8A-4147-A177-3AD203B41FA5}">
                      <a16:colId xmlns:a16="http://schemas.microsoft.com/office/drawing/2014/main" val="3561737868"/>
                    </a:ext>
                  </a:extLst>
                </a:gridCol>
                <a:gridCol w="6487147">
                  <a:extLst>
                    <a:ext uri="{9D8B030D-6E8A-4147-A177-3AD203B41FA5}">
                      <a16:colId xmlns:a16="http://schemas.microsoft.com/office/drawing/2014/main" val="2891818409"/>
                    </a:ext>
                  </a:extLst>
                </a:gridCol>
              </a:tblGrid>
              <a:tr h="4638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Check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Criteria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08379444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Length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8 or more characters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64838786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Lowercase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Contains a-z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79348202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Uppercase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Contains A-Z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03523195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Digits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Contains 0-9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8614169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Symbols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Contains !@#$% etc.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08813359"/>
                  </a:ext>
                </a:extLst>
              </a:tr>
              <a:tr h="463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Score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0-5 (one point per check passed)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93389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07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6AED-AA62-E32F-98F8-1338F24C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5 — Report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3C017-3BEF-EB0E-FF2C-0B5DC57E8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Compiles all results into a formatted text report and saves it as audit_report.txt.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DB15D5-A5C3-5703-6CD8-900796F2C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378141"/>
              </p:ext>
            </p:extLst>
          </p:nvPr>
        </p:nvGraphicFramePr>
        <p:xfrm>
          <a:off x="1150373" y="3254477"/>
          <a:ext cx="9714271" cy="2566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3549">
                  <a:extLst>
                    <a:ext uri="{9D8B030D-6E8A-4147-A177-3AD203B41FA5}">
                      <a16:colId xmlns:a16="http://schemas.microsoft.com/office/drawing/2014/main" val="3692817678"/>
                    </a:ext>
                  </a:extLst>
                </a:gridCol>
                <a:gridCol w="6600722">
                  <a:extLst>
                    <a:ext uri="{9D8B030D-6E8A-4147-A177-3AD203B41FA5}">
                      <a16:colId xmlns:a16="http://schemas.microsoft.com/office/drawing/2014/main" val="64985784"/>
                    </a:ext>
                  </a:extLst>
                </a:gridCol>
              </a:tblGrid>
              <a:tr h="5132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Content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70403615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Dictionary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Total words generated, sample list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08499180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Brute Force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Cracked password (if found)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189433648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Analysis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Password, score, entropy, rating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95389929"/>
                  </a:ext>
                </a:extLst>
              </a:tr>
              <a:tr h="513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Recommendations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4 actionable security tips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3037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9A42-BDA1-007C-1D03-A40F8186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Hash Algorithm Security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63FAA1-BBDB-7B25-A78A-0E2ECC210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754997"/>
              </p:ext>
            </p:extLst>
          </p:nvPr>
        </p:nvGraphicFramePr>
        <p:xfrm>
          <a:off x="1150374" y="1799302"/>
          <a:ext cx="9301316" cy="4149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7461">
                  <a:extLst>
                    <a:ext uri="{9D8B030D-6E8A-4147-A177-3AD203B41FA5}">
                      <a16:colId xmlns:a16="http://schemas.microsoft.com/office/drawing/2014/main" val="3752862555"/>
                    </a:ext>
                  </a:extLst>
                </a:gridCol>
                <a:gridCol w="1987461">
                  <a:extLst>
                    <a:ext uri="{9D8B030D-6E8A-4147-A177-3AD203B41FA5}">
                      <a16:colId xmlns:a16="http://schemas.microsoft.com/office/drawing/2014/main" val="558673288"/>
                    </a:ext>
                  </a:extLst>
                </a:gridCol>
                <a:gridCol w="5326394">
                  <a:extLst>
                    <a:ext uri="{9D8B030D-6E8A-4147-A177-3AD203B41FA5}">
                      <a16:colId xmlns:a16="http://schemas.microsoft.com/office/drawing/2014/main" val="2939244212"/>
                    </a:ext>
                  </a:extLst>
                </a:gridCol>
              </a:tblGrid>
              <a:tr h="6915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Algorithm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Rating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Notes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120031872"/>
                  </a:ext>
                </a:extLst>
              </a:tr>
              <a:tr h="691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MD5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WEAK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Cracked in seconds, no salt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627217188"/>
                  </a:ext>
                </a:extLst>
              </a:tr>
              <a:tr h="691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NTLM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WEAK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No salt, GPU-accelerated cracking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75773270"/>
                  </a:ext>
                </a:extLst>
              </a:tr>
              <a:tr h="691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SHA-256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MEDIUM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Better but aging, use with salt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87368563"/>
                  </a:ext>
                </a:extLst>
              </a:tr>
              <a:tr h="691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SHA-512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GOOD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Salted, slow enough for most uses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50114877"/>
                  </a:ext>
                </a:extLst>
              </a:tr>
              <a:tr h="691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Bcrypt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STRONG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Adaptive cost, best for passwords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10323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25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036A-4855-A6A1-E347-179D130C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Ethical &amp; Legal Disclaimer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4703-2BE9-FBCB-A700-8C7D8C56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IMPORTANT — Authorized Use Only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This toolkit is designed exclusively for:</a:t>
            </a:r>
          </a:p>
          <a:p>
            <a:pPr marL="0" lvl="0" indent="0">
              <a:buNone/>
            </a:pPr>
            <a:r>
              <a:rPr lang="en-IN" dirty="0"/>
              <a:t>	Authorized penetration testing with written permission</a:t>
            </a:r>
          </a:p>
          <a:p>
            <a:pPr marL="0" lvl="0" indent="0">
              <a:buNone/>
            </a:pPr>
            <a:r>
              <a:rPr lang="en-IN" dirty="0"/>
              <a:t>	Educational cybersecurity lab environments</a:t>
            </a:r>
          </a:p>
          <a:p>
            <a:pPr marL="0" lvl="0" indent="0">
              <a:buNone/>
            </a:pPr>
            <a:r>
              <a:rPr lang="en-IN" dirty="0"/>
              <a:t>	Security auditing of systems you own</a:t>
            </a:r>
          </a:p>
          <a:p>
            <a:r>
              <a:rPr lang="en-IN" b="1" dirty="0"/>
              <a:t>Unauthorized use is illegal under CFAA, UK Computer Misuse Act, and equivalent laws.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94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FC77-86A7-E11D-6174-B94A7C55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How to Run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E2DF-B529-ABCB-B2A7-3D9AC2220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Place all files in same Folder.</a:t>
            </a:r>
          </a:p>
          <a:p>
            <a:r>
              <a:rPr lang="en-US" dirty="0"/>
              <a:t>Open Terminal and type command </a:t>
            </a:r>
          </a:p>
          <a:p>
            <a:pPr marL="0" indent="0">
              <a:buNone/>
            </a:pPr>
            <a:r>
              <a:rPr lang="en-US" dirty="0"/>
              <a:t>	python main.py    </a:t>
            </a:r>
          </a:p>
          <a:p>
            <a:pPr marL="0" indent="0">
              <a:buNone/>
            </a:pPr>
            <a:r>
              <a:rPr lang="en-US" dirty="0"/>
              <a:t>	          OR    </a:t>
            </a:r>
          </a:p>
          <a:p>
            <a:pPr marL="0" indent="0">
              <a:buNone/>
            </a:pPr>
            <a:r>
              <a:rPr lang="en-US" dirty="0"/>
              <a:t>	python3 main.py</a:t>
            </a:r>
          </a:p>
          <a:p>
            <a:r>
              <a:rPr lang="en-US" dirty="0"/>
              <a:t>Enter Password as Input. </a:t>
            </a:r>
          </a:p>
          <a:p>
            <a:r>
              <a:rPr lang="en-IN" dirty="0"/>
              <a:t>Final report is saved as </a:t>
            </a:r>
            <a:r>
              <a:rPr lang="en-IN" b="1" dirty="0"/>
              <a:t>audit_report.txt </a:t>
            </a:r>
            <a:r>
              <a:rPr lang="en-IN" dirty="0"/>
              <a:t>in the same folder</a:t>
            </a:r>
          </a:p>
        </p:txBody>
      </p:sp>
    </p:spTree>
    <p:extLst>
      <p:ext uri="{BB962C8B-B14F-4D97-AF65-F5344CB8AC3E}">
        <p14:creationId xmlns:p14="http://schemas.microsoft.com/office/powerpoint/2010/main" val="313204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7930-DF34-D92B-33DF-86F8CA6A5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017FB-AADD-BFCC-DB06-99142FACB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441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</TotalTime>
  <Words>526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Tw Cen MT</vt:lpstr>
      <vt:lpstr>Circuit</vt:lpstr>
      <vt:lpstr>Name :- Yug Kapuriya  UNID :- UMID13012677975 </vt:lpstr>
      <vt:lpstr>Password Cracking &amp; Credential Attack Suite</vt:lpstr>
      <vt:lpstr>Modules Included </vt:lpstr>
      <vt:lpstr>Purpose</vt:lpstr>
      <vt:lpstr>Module 1 :- Dictionary Generator</vt:lpstr>
      <vt:lpstr>Module 2 — Hash Extractor</vt:lpstr>
      <vt:lpstr>Module 3 — Brute Force Simulator</vt:lpstr>
      <vt:lpstr>Module 4 — Password Analyzer</vt:lpstr>
      <vt:lpstr>Module 5 — Report Generator</vt:lpstr>
      <vt:lpstr>Hash Algorithm Security</vt:lpstr>
      <vt:lpstr>Ethical &amp; Legal Disclaimer</vt:lpstr>
      <vt:lpstr>How to Run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yugkapuriya01@outlook.com</dc:creator>
  <cp:lastModifiedBy>yugkapuriya01@outlook.com</cp:lastModifiedBy>
  <cp:revision>1</cp:revision>
  <dcterms:created xsi:type="dcterms:W3CDTF">2026-03-10T05:00:02Z</dcterms:created>
  <dcterms:modified xsi:type="dcterms:W3CDTF">2026-03-12T06:49:44Z</dcterms:modified>
</cp:coreProperties>
</file>